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AIRBASE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2D3EE"/>
                </a:solidFill>
                <a:latin typeface="Calibri"/>
              </a:defRPr>
            </a:pPr>
            <a:r>
              <a:t>AI-Powered Air Base Operations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Digitizing Saab's logistics training game with real-time AI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080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Saab Smart Air Base Hackathon  |  March 2026  |  Tekniska Museet, Stockholm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Air superiority is decided on the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Sweden's dispersed air base commanders train with paper cards, physical dice, and whiteboard schedules.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Requires 8-15 people in one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Training happens 2-3 times 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Manual dice rolls &amp; paper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single game-day takes 4-8 real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data capture whatsoever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Decisions evaporate after the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6888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'what-if'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Commanders can't explore alternatives mid-game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AI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Learning only from experienced mentors (bottleneck)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4632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Single-player impossible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Individuals can't practice on their 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52160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D3EE"/>
                </a:solidFill>
                <a:latin typeface="Calibri"/>
              </a:defRPr>
            </a:pPr>
            <a:r>
              <a:t>"In the next conflict, the bottleneck won't be aircraft — it will be the ground crews and logistics commanders who turn them around."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 uses this and what do they need?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36576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Basbatchef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Base Commander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7432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Translates Air Tasking Orders into</a:t>
            </a:r>
            <a:br/>
            <a:r>
              <a:t>ground-level decisions. Manages the</a:t>
            </a:r>
            <a:br/>
            <a:r>
              <a:t>big picture: which aircraft fly, when,</a:t>
            </a:r>
            <a:br/>
            <a:r>
              <a:t>with what weapons.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291840" cy="36576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D3EE"/>
                </a:solidFill>
                <a:latin typeface="Calibri"/>
              </a:defRPr>
            </a:pPr>
            <a:r>
              <a:t>Underhallsberedare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Maintenance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7432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Allocates aircraft to tasks, plans</a:t>
            </a:r>
            <a:br/>
            <a:r>
              <a:t>repair schedules, manages exchange</a:t>
            </a:r>
            <a:br/>
            <a:r>
              <a:t>units and spare parts to keep the</a:t>
            </a:r>
            <a:br/>
            <a:r>
              <a:t>fleet mission-capable.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291840" cy="36576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Klargoringstropp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06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Preparation Crews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27432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Execute hands-on fueling, arming,</a:t>
            </a:r>
            <a:br/>
            <a:r>
              <a:t>and pre-flight checks. Report faults.</a:t>
            </a:r>
            <a:br/>
            <a:r>
              <a:t>Work 8-hour rotating shifts under</a:t>
            </a:r>
            <a:br/>
            <a:r>
              <a:t>time pressure.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424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THEIR SHARED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076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Maximize sortie generation — get mission-capable Gripen aircraft airborne, on time, with correct weapons, across a 30-day campaign.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AirBase Ops — AI-Powered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BD5E1"/>
                </a:solidFill>
                <a:latin typeface="Calibri"/>
              </a:defRPr>
            </a:pPr>
            <a:r>
              <a:t>We digitized Saab's physical logistics board game, then augmented it with AI that transforms training into decision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29184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React 19 + Tailwind CSS + Leaflet Maps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29184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291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D3E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FastAPI + Python 3.11 + Pydantic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29184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OpenRouter LLM + Deterministic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3-column operations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107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Interactive tactical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6674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Real-time KPI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2277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AI recommendation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54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Turn engine (hourly sim)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107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Resource manager (7 types)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6674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Maintenance system (dice)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2277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30-day campaign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Structured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107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Mission allocation optimizer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6674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Conversational advisor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92277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Offline deterministic planner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572000"/>
            <a:ext cx="256032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709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10 Gripen 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206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Full fleet simulation with</a:t>
            </a:r>
            <a:br/>
            <a:r>
              <a:t>lifecycle state machine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4572000"/>
            <a:ext cx="256032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11880" y="4572000"/>
            <a:ext cx="54864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709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7316"/>
                </a:solidFill>
                <a:latin typeface="Calibri"/>
              </a:defRPr>
            </a:pPr>
            <a:r>
              <a:t>30-Day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1206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Peace &gt; Crisis &gt; War</a:t>
            </a:r>
            <a:br/>
            <a:r>
              <a:t>with dynamic events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572000"/>
            <a:ext cx="256032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572000"/>
            <a:ext cx="54864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4709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4 Real-Time KPIs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1206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Readiness, throughput,</a:t>
            </a:r>
            <a:br/>
            <a:r>
              <a:t>turnaround, risk 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72600" y="4572000"/>
            <a:ext cx="54864" cy="1645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4709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Calibri"/>
              </a:defRPr>
            </a:pPr>
            <a:r>
              <a:t>AI Decision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12064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Explainable recommendations</a:t>
            </a:r>
            <a:br/>
            <a:r>
              <a:t>with confidence scores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Fleet Operations &amp; Tactical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FLEET OPERATIONS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fleet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10 aircraft visible at a glance with color-coded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Aircraft detail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Click any aircraft for fuel, weapons, service hours, maintenance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Drag-and-assign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1363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Assign aircraft to missions directly from the fleet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Status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079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Green = ready, Blue = flying, Yellow = prepping, Red =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Fuel level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102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Visual fuel gauges updated every 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40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 hour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96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Remaining hours until scheduled maintenance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828800"/>
            <a:ext cx="5120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INTERACTIVE TACTICAL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Leaflet.js interactive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Pan, zoom, and inspect the operational theater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63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Base location indicator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31927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 17 Kallinge shown with breathing glow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Mission zones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1363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Color-coded circles: QRA (red), DCA (orange), RECCE (yellow)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Aircraft positions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5079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markers showing aircraft locations and flight tracks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Click-to-inspect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102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Click any mission zone or aircraft for detailed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40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Auto-zoom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96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Camera automatically fits all active missions and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That Explains Its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BD5E1"/>
                </a:solidFill>
                <a:latin typeface="Calibri"/>
              </a:defRPr>
            </a:pPr>
            <a:r>
              <a:t>Three layers of AI intelligence — from structured recommendations to free-form conversation.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291840" cy="3931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4114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8716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Recommendation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Structured, actionable suggestions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Specific aircraft-to-mission assignments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Bullet-point reasoning for each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Expected effects on 4 KPIs with deltas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Confidence score (0-100%)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Stated assumptions &amp; tradeoffs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One-click "Apply All" 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286000"/>
            <a:ext cx="3291840" cy="3931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286000"/>
            <a:ext cx="3291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468880"/>
            <a:ext cx="411480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8716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D3EE"/>
                </a:solidFill>
                <a:latin typeface="Calibri"/>
              </a:defRPr>
            </a:pPr>
            <a:r>
              <a:t>Compare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971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Non-destructive 6-hour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29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Side-by-side: Your Plan vs AI-Optimized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Metrics: missions, readiness, fuel,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51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Green/red deltas for each 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663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Learn through comparison, not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Zero risk — game state unchanged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486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Builds trust in AI recommendations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286000"/>
            <a:ext cx="3291840" cy="39319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28600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46888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48716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Chat Advisor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971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Natural language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29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"Assess readiness" — instant fleet briefing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"Fuel forecast" — burn rate projection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251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"Maint priorities" — repair sequencing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63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Understands Swedish military terminology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References specific aircraft &amp; mission IDs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486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Context-aware across campaign phases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METRICS-DRIVEN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4 Real-Time KPIs — Always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BD5E1"/>
                </a:solidFill>
                <a:latin typeface="Calibri"/>
              </a:defRPr>
            </a:pPr>
            <a:r>
              <a:t>Every decision shows immediate impact. Green arrows for improvements, red for degradation.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38404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517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Fleet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+12% from last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Mission-capable + flying aircraft</a:t>
            </a:r>
            <a:br/>
            <a:r>
              <a:t>as percentage of total fleet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212080"/>
            <a:ext cx="2377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(CAPABLE + ON_MISSION) /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286000"/>
            <a:ext cx="2651760" cy="38404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28600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Calibri"/>
              </a:defRPr>
            </a:pPr>
            <a:r>
              <a:t>Mission 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794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+12% from last 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9768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Missions completable in the</a:t>
            </a:r>
            <a:br/>
            <a:r>
              <a:t>next 6 hours given current fleet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212080"/>
            <a:ext cx="2377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Available + returning + prepping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2651760" cy="38404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28600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4688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7316"/>
                </a:solidFill>
                <a:latin typeface="Calibri"/>
              </a:defRPr>
            </a:pPr>
            <a:r>
              <a:t>Turnaround Delay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9260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142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94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+12% from last 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8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Average minutes until non-ready</a:t>
            </a:r>
            <a:br/>
            <a:r>
              <a:t>aircraft become mission-capable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212080"/>
            <a:ext cx="2377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Weighted avg of remaining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2286000"/>
            <a:ext cx="2651760" cy="38404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22860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4688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Risk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9260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794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+12% from last 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29768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Composite index of fuel, UE,</a:t>
            </a:r>
            <a:br/>
            <a:r>
              <a:t>maintenance burden, mission gaps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5212080"/>
            <a:ext cx="2377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5257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components x 25 pts 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FAITHFUL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Board Game Mechanic — Digitized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D3EE"/>
                </a:solidFill>
                <a:latin typeface="Calibri"/>
              </a:defRPr>
            </a:pPr>
            <a:r>
              <a:t>AIRCRAFT LIFECYCLE STATE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22860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HANGAR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Not prepared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154680"/>
            <a:ext cx="228600" cy="2286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PRE_FLIGHT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4h prep, 1/3 fault chance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70332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MISSION_CAPABLE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Ready to fly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25196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2062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ON_MISSION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Currently flying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800599"/>
            <a:ext cx="228600" cy="2286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754879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POST_FLIGHT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5487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6h, 50% maintenance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34924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3035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303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2-16h repair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521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D3EE"/>
                </a:solidFill>
                <a:latin typeface="Consolas"/>
              </a:defRPr>
            </a:pPr>
            <a:r>
              <a:t>HANGAR &gt; PRE_FLIGHT &gt; CAPABLE &gt; MISSION &gt; POST_FLIGHT &gt; HANGAR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493776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4937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COMPLETE RESOURCE 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Fuel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603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180,000L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560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200L/flight-hr + 50L takeoff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06323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Missiles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06323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180 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06323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10-100% lost per mission (dice)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566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Bombs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5661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120 units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566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Mission-type dependent 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Recon Pods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069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10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Required for RECCE missions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572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Spare Parts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72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60 units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72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Consumed by maintenance repairs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074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Exchange Units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0749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16 units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074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30-day MRO repair cycle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577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Maint. Crews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55778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D3EE"/>
                </a:solidFill>
                <a:latin typeface="Calibri"/>
              </a:defRPr>
            </a:pPr>
            <a:r>
              <a:t>6 (3 on duty)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5577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8-hour rotating shifts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5486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97316"/>
                </a:solidFill>
                <a:latin typeface="Calibri"/>
              </a:defRPr>
            </a:pPr>
            <a:r>
              <a:t>CAMPAIGN PHASES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5806440"/>
            <a:ext cx="13716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82472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Days 1-10: PEACE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806440"/>
            <a:ext cx="1371600" cy="320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582472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Days 11-20: CRISIS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5806440"/>
            <a:ext cx="1371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04120" y="582472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Days 21-30: WAR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Board Game vs AirBase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2011680"/>
            <a:ext cx="3840480" cy="457200"/>
          </a:xfrm>
          <a:prstGeom prst="rect">
            <a:avLst/>
          </a:prstGeom>
          <a:solidFill>
            <a:srgbClr val="3B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2011680"/>
            <a:ext cx="3657600" cy="457200"/>
          </a:xfrm>
          <a:prstGeom prst="rect">
            <a:avLst/>
          </a:prstGeom>
          <a:solidFill>
            <a:srgbClr val="0C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PHYSICAL BOARD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AIRBASE 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0789920" cy="438912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Players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060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8-15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1+ (solo or team)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Session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8152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Hours of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81528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Click and play in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11296"/>
            <a:ext cx="10789920" cy="438912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5701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Game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57016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4-8 hours per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57016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Real-time, adjustable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3250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3250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Human mentors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032504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AI advisor + what-if sim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62272"/>
            <a:ext cx="10789920" cy="438912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079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50799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507992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Full decision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983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Scheduled events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834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24/7, any 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413248"/>
            <a:ext cx="10789920" cy="438912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58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4589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1 session at a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458968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Unlimited concurrent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344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What-if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934456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Impossible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934456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Compare Mode with 6h forecast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Invest in This Product?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91840" cy="2011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Training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Physical game: 1 session, 1 room, 8+ people</a:t>
            </a:r>
            <a:br/>
            <a:r>
              <a:t>AirBase Ops: Unlimited sessions, any browser, solo or team</a:t>
            </a:r>
            <a:br/>
            <a:r>
              <a:t>Training frequency goes from 2x/year to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291840" cy="2011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Customer Value Amplifier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Every Gripen export customer needs base ops training</a:t>
            </a:r>
            <a:br/>
            <a:r>
              <a:t>Package with aircraft sales as training differentiator</a:t>
            </a:r>
            <a:br/>
            <a:r>
              <a:t>Strengthens Saab's total support offering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291840" cy="2011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291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Calibri"/>
              </a:defRPr>
            </a:pPr>
            <a:r>
              <a:t>Data-Driven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Every decision logged with timestamps and state</a:t>
            </a:r>
            <a:br/>
            <a:r>
              <a:t>After-action review and performance analytics</a:t>
            </a:r>
            <a:br/>
            <a:r>
              <a:t>Compare cohort performance over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114800"/>
            <a:ext cx="3291840" cy="2011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4114800"/>
            <a:ext cx="3291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297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7316"/>
                </a:solidFill>
                <a:latin typeface="Calibri"/>
              </a:defRPr>
            </a:pPr>
            <a:r>
              <a:t>AI Augmentation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70916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Today: Training tool with AI suggestions</a:t>
            </a:r>
            <a:br/>
            <a:r>
              <a:t>Tomorrow: Operational decision support for real bases</a:t>
            </a:r>
            <a:br/>
            <a:r>
              <a:t>Same engine, real fleet data instead of simulation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3291840" cy="2011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3291840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ACC15"/>
                </a:solidFill>
                <a:latin typeface="Calibri"/>
              </a:defRPr>
            </a:pPr>
            <a:r>
              <a:t>Edge Deployment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Python + React = lightweight, standard stack</a:t>
            </a:r>
            <a:br/>
            <a:r>
              <a:t>Deterministic fallback = works offline</a:t>
            </a:r>
            <a:br/>
            <a:r>
              <a:t>No specialized hardware — runs on field laptops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SaaS Tiers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Core simulation, scenario library,</a:t>
            </a:r>
            <a:br/>
            <a:r>
              <a:t>single-player mode, basic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2926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5643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Per-seat 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10 Gripen fleet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30-day campaign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5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Aircraft lifecycle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Resource tracking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291840" cy="41148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2D3EE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advisor, compare mode,</a:t>
            </a:r>
            <a:br/>
            <a:r>
              <a:t>recommendation cards, full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429000"/>
            <a:ext cx="2926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45643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D3EE"/>
                </a:solidFill>
                <a:latin typeface="Calibri"/>
              </a:defRPr>
            </a:pPr>
            <a:r>
              <a:t>Per-base subscription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776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Everything in Training, plus: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434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AI-powered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5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Compare Mode (what-if)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074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Decision audit trail &amp;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828800"/>
            <a:ext cx="3291840" cy="41148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057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06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 scenarios, API integration,</a:t>
            </a:r>
            <a:br/>
            <a:r>
              <a:t>multi-base networking, multiplayer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429000"/>
            <a:ext cx="29260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45643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Enterprise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776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Everything in Advanced, plus: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434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Custom scenario editor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0915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Multi-base 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74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Multiplayer roles (AOC/BC/KlT)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080760"/>
            <a:ext cx="104241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0936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Mobile/tablet support  |  VR/AR immersive training  |  Real fleet data integration  |  NATO-standard interoperability  |  Predictive maintenance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CBD5E1"/>
                </a:solidFill>
                <a:latin typeface="Calibri"/>
              </a:defRPr>
            </a:pPr>
            <a:r>
              <a:t>We didn't just digitize a board game.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We built the foundation for Saab's</a:t>
            </a:r>
            <a:br/>
            <a:r>
              <a:t>next-generation air base command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2926080" cy="14630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42519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Proven Training</a:t>
            </a:r>
            <a:br/>
            <a: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8920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Faithful digitization of</a:t>
            </a:r>
            <a:br/>
            <a:r>
              <a:t>Saab's board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2926080" cy="14630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4114800"/>
            <a:ext cx="292608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42519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Calibri"/>
              </a:defRPr>
            </a:pPr>
            <a:r>
              <a:t>AI-Augmented</a:t>
            </a:r>
            <a:br/>
            <a:r>
              <a:t>Decision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8920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Explainable AI that</a:t>
            </a:r>
            <a:br/>
            <a:r>
              <a:t>builds trust &amp; skill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114800"/>
            <a:ext cx="2926080" cy="14630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4114800"/>
            <a:ext cx="2926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2519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Production-Ready</a:t>
            </a:r>
            <a:br/>
            <a: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920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Edge-deployable, offline,</a:t>
            </a:r>
            <a:br/>
            <a:r>
              <a:t>scalable to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AIRBASE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4008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Saab Smart Air Base Hackathon  |  March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